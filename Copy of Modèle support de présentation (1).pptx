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Nunito"/>
      <p:regular r:id="rId31"/>
      <p:bold r:id="rId32"/>
      <p:italic r:id="rId33"/>
      <p:boldItalic r:id="rId34"/>
    </p:embeddedFont>
    <p:embeddedFont>
      <p:font typeface="Montserrat"/>
      <p:regular r:id="rId35"/>
      <p:bold r:id="rId36"/>
      <p:italic r:id="rId37"/>
      <p:boldItalic r:id="rId38"/>
    </p:embeddedFont>
    <p:embeddedFont>
      <p:font typeface="Lato"/>
      <p:regular r:id="rId39"/>
      <p:bold r:id="rId40"/>
      <p:italic r:id="rId41"/>
      <p:boldItalic r:id="rId42"/>
    </p:embeddedFont>
    <p:embeddedFont>
      <p:font typeface="Nunito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47" roundtripDataSignature="AMtx7mh4tW8AZbAH25zZxKDGPU2DBP2E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5.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7.xml"/><Relationship Id="rId44" Type="http://schemas.openxmlformats.org/officeDocument/2006/relationships/font" Target="fonts/NunitoMedium-bold.fntdata"/><Relationship Id="rId21" Type="http://schemas.openxmlformats.org/officeDocument/2006/relationships/slide" Target="slides/slide16.xml"/><Relationship Id="rId43" Type="http://schemas.openxmlformats.org/officeDocument/2006/relationships/font" Target="fonts/NunitoMedium-regular.fntdata"/><Relationship Id="rId24" Type="http://schemas.openxmlformats.org/officeDocument/2006/relationships/slide" Target="slides/slide19.xml"/><Relationship Id="rId46" Type="http://schemas.openxmlformats.org/officeDocument/2006/relationships/font" Target="fonts/NunitoMedium-boldItalic.fntdata"/><Relationship Id="rId23" Type="http://schemas.openxmlformats.org/officeDocument/2006/relationships/slide" Target="slides/slide18.xml"/><Relationship Id="rId45" Type="http://schemas.openxmlformats.org/officeDocument/2006/relationships/font" Target="fonts/Nunito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italic.fntdata"/><Relationship Id="rId10" Type="http://schemas.openxmlformats.org/officeDocument/2006/relationships/slide" Target="slides/slide5.xml"/><Relationship Id="rId32" Type="http://schemas.openxmlformats.org/officeDocument/2006/relationships/font" Target="fonts/Nunito-bold.fntdata"/><Relationship Id="rId13" Type="http://schemas.openxmlformats.org/officeDocument/2006/relationships/slide" Target="slides/slide8.xml"/><Relationship Id="rId35" Type="http://schemas.openxmlformats.org/officeDocument/2006/relationships/font" Target="fonts/Montserrat-regular.fntdata"/><Relationship Id="rId12" Type="http://schemas.openxmlformats.org/officeDocument/2006/relationships/slide" Target="slides/slide7.xml"/><Relationship Id="rId34" Type="http://schemas.openxmlformats.org/officeDocument/2006/relationships/font" Target="fonts/Nunito-boldItalic.fntdata"/><Relationship Id="rId15" Type="http://schemas.openxmlformats.org/officeDocument/2006/relationships/slide" Target="slides/slide10.xml"/><Relationship Id="rId37" Type="http://schemas.openxmlformats.org/officeDocument/2006/relationships/font" Target="fonts/Montserrat-italic.fntdata"/><Relationship Id="rId14" Type="http://schemas.openxmlformats.org/officeDocument/2006/relationships/slide" Target="slides/slide9.xml"/><Relationship Id="rId36" Type="http://schemas.openxmlformats.org/officeDocument/2006/relationships/font" Target="fonts/Montserrat-bold.fntdata"/><Relationship Id="rId17" Type="http://schemas.openxmlformats.org/officeDocument/2006/relationships/slide" Target="slides/slide12.xml"/><Relationship Id="rId39" Type="http://schemas.openxmlformats.org/officeDocument/2006/relationships/font" Target="fonts/Lato-regular.fntdata"/><Relationship Id="rId16" Type="http://schemas.openxmlformats.org/officeDocument/2006/relationships/slide" Target="slides/slide11.xml"/><Relationship Id="rId38" Type="http://schemas.openxmlformats.org/officeDocument/2006/relationships/font" Target="fonts/Montserra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35e83546a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135e83546a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35e83546a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135e83546a3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35e83546a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135e83546a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64452124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364452124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13640a43170_0_580"/>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g13640a43170_0_580"/>
          <p:cNvGrpSpPr/>
          <p:nvPr/>
        </p:nvGrpSpPr>
        <p:grpSpPr>
          <a:xfrm>
            <a:off x="0" y="490"/>
            <a:ext cx="5153705" cy="5134399"/>
            <a:chOff x="0" y="75"/>
            <a:chExt cx="5153705" cy="5152950"/>
          </a:xfrm>
        </p:grpSpPr>
        <p:sp>
          <p:nvSpPr>
            <p:cNvPr id="12" name="Google Shape;12;g13640a43170_0_580"/>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13640a43170_0_580"/>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g13640a43170_0_580"/>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13640a43170_0_580"/>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g13640a43170_0_580"/>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g13640a43170_0_580"/>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g13640a43170_0_5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g13640a43170_0_590"/>
          <p:cNvGrpSpPr/>
          <p:nvPr/>
        </p:nvGrpSpPr>
        <p:grpSpPr>
          <a:xfrm>
            <a:off x="4406400" y="0"/>
            <a:ext cx="4737600" cy="5143065"/>
            <a:chOff x="4406400" y="0"/>
            <a:chExt cx="4737600" cy="5143065"/>
          </a:xfrm>
        </p:grpSpPr>
        <p:sp>
          <p:nvSpPr>
            <p:cNvPr id="21" name="Google Shape;21;g13640a43170_0_590"/>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g13640a43170_0_590"/>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g13640a43170_0_590"/>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13640a43170_0_590"/>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g13640a43170_0_590"/>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g13640a43170_0_590"/>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13640a43170_0_590"/>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13640a43170_0_590"/>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g13640a43170_0_590"/>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g13640a43170_0_590"/>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13640a43170_0_590"/>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g13640a43170_0_590"/>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13640a43170_0_590"/>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13640a43170_0_59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13640a43170_0_590"/>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g13640a43170_0_590"/>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13640a43170_0_590"/>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13640a43170_0_590"/>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g13640a43170_0_590"/>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g13640a43170_0_5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g13640a43170_0_612"/>
          <p:cNvGrpSpPr/>
          <p:nvPr/>
        </p:nvGrpSpPr>
        <p:grpSpPr>
          <a:xfrm>
            <a:off x="0" y="381001"/>
            <a:ext cx="1037850" cy="1016287"/>
            <a:chOff x="0" y="381001"/>
            <a:chExt cx="1037850" cy="1016287"/>
          </a:xfrm>
        </p:grpSpPr>
        <p:sp>
          <p:nvSpPr>
            <p:cNvPr id="43" name="Google Shape;43;g13640a43170_0_6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13640a43170_0_6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g13640a43170_0_61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g13640a43170_0_61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g13640a43170_0_6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g13640a43170_0_619"/>
          <p:cNvGrpSpPr/>
          <p:nvPr/>
        </p:nvGrpSpPr>
        <p:grpSpPr>
          <a:xfrm>
            <a:off x="0" y="381001"/>
            <a:ext cx="1037850" cy="1016287"/>
            <a:chOff x="0" y="381001"/>
            <a:chExt cx="1037850" cy="1016287"/>
          </a:xfrm>
        </p:grpSpPr>
        <p:sp>
          <p:nvSpPr>
            <p:cNvPr id="50" name="Google Shape;50;g13640a43170_0_6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13640a43170_0_6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g13640a43170_0_6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g13640a43170_0_619"/>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g13640a43170_0_619"/>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g13640a43170_0_6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g13640a43170_0_627"/>
          <p:cNvGrpSpPr/>
          <p:nvPr/>
        </p:nvGrpSpPr>
        <p:grpSpPr>
          <a:xfrm>
            <a:off x="0" y="381001"/>
            <a:ext cx="1037850" cy="1016287"/>
            <a:chOff x="0" y="381001"/>
            <a:chExt cx="1037850" cy="1016287"/>
          </a:xfrm>
        </p:grpSpPr>
        <p:sp>
          <p:nvSpPr>
            <p:cNvPr id="58" name="Google Shape;58;g13640a43170_0_62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13640a43170_0_62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g13640a43170_0_6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g13640a43170_0_6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g13640a43170_0_633"/>
          <p:cNvGrpSpPr/>
          <p:nvPr/>
        </p:nvGrpSpPr>
        <p:grpSpPr>
          <a:xfrm>
            <a:off x="0" y="381001"/>
            <a:ext cx="1037850" cy="1016287"/>
            <a:chOff x="0" y="381001"/>
            <a:chExt cx="1037850" cy="1016287"/>
          </a:xfrm>
        </p:grpSpPr>
        <p:sp>
          <p:nvSpPr>
            <p:cNvPr id="64" name="Google Shape;64;g13640a43170_0_6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13640a43170_0_6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g13640a43170_0_633"/>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g13640a43170_0_633"/>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g13640a43170_0_6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g13640a43170_0_640"/>
          <p:cNvGrpSpPr/>
          <p:nvPr/>
        </p:nvGrpSpPr>
        <p:grpSpPr>
          <a:xfrm>
            <a:off x="4406400" y="0"/>
            <a:ext cx="4737600" cy="5143500"/>
            <a:chOff x="4406400" y="0"/>
            <a:chExt cx="4737600" cy="5143500"/>
          </a:xfrm>
        </p:grpSpPr>
        <p:sp>
          <p:nvSpPr>
            <p:cNvPr id="71" name="Google Shape;71;g13640a43170_0_64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13640a43170_0_64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13640a43170_0_64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13640a43170_0_64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13640a43170_0_64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13640a43170_0_64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13640a43170_0_64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13640a43170_0_64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13640a43170_0_64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13640a43170_0_64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13640a43170_0_64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13640a43170_0_64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13640a43170_0_64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13640a43170_0_64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13640a43170_0_64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13640a43170_0_64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13640a43170_0_64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13640a43170_0_64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g13640a43170_0_640"/>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g13640a43170_0_6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g13640a43170_0_662"/>
          <p:cNvGrpSpPr/>
          <p:nvPr/>
        </p:nvGrpSpPr>
        <p:grpSpPr>
          <a:xfrm>
            <a:off x="0" y="381001"/>
            <a:ext cx="1037850" cy="1016287"/>
            <a:chOff x="0" y="381001"/>
            <a:chExt cx="1037850" cy="1016287"/>
          </a:xfrm>
        </p:grpSpPr>
        <p:sp>
          <p:nvSpPr>
            <p:cNvPr id="93" name="Google Shape;93;g13640a43170_0_66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13640a43170_0_66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g13640a43170_0_662"/>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g13640a43170_0_662"/>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g13640a43170_0_662"/>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g13640a43170_0_6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g13640a43170_0_670"/>
          <p:cNvGrpSpPr/>
          <p:nvPr/>
        </p:nvGrpSpPr>
        <p:grpSpPr>
          <a:xfrm>
            <a:off x="0" y="4128572"/>
            <a:ext cx="698925" cy="684657"/>
            <a:chOff x="0" y="3785672"/>
            <a:chExt cx="698925" cy="684657"/>
          </a:xfrm>
        </p:grpSpPr>
        <p:sp>
          <p:nvSpPr>
            <p:cNvPr id="101" name="Google Shape;101;g13640a43170_0_67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13640a43170_0_67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g13640a43170_0_67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g13640a43170_0_6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g13640a43170_0_676"/>
          <p:cNvGrpSpPr/>
          <p:nvPr/>
        </p:nvGrpSpPr>
        <p:grpSpPr>
          <a:xfrm>
            <a:off x="4406400" y="0"/>
            <a:ext cx="4737600" cy="5143065"/>
            <a:chOff x="4406400" y="0"/>
            <a:chExt cx="4737600" cy="5143065"/>
          </a:xfrm>
        </p:grpSpPr>
        <p:sp>
          <p:nvSpPr>
            <p:cNvPr id="107" name="Google Shape;107;g13640a43170_0_676"/>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13640a43170_0_676"/>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13640a43170_0_676"/>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13640a43170_0_676"/>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13640a43170_0_676"/>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13640a43170_0_676"/>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13640a43170_0_676"/>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13640a43170_0_67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13640a43170_0_676"/>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13640a43170_0_676"/>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13640a43170_0_676"/>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13640a43170_0_676"/>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13640a43170_0_676"/>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13640a43170_0_67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13640a43170_0_676"/>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13640a43170_0_676"/>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13640a43170_0_676"/>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13640a43170_0_676"/>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g13640a43170_0_676"/>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g13640a43170_0_676"/>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g13640a43170_0_6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g13640a43170_0_6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g13640a43170_0_5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g13640a43170_0_5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g13640a43170_0_5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3537150" y="1782300"/>
            <a:ext cx="5017500" cy="15789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26086"/>
              <a:buNone/>
            </a:pPr>
            <a:r>
              <a:rPr lang="fr"/>
              <a:t>Conseil Numérique appliqué à la data</a:t>
            </a:r>
            <a:endParaRPr b="1" sz="2300">
              <a:solidFill>
                <a:srgbClr val="000000"/>
              </a:solidFill>
              <a:latin typeface="Arial"/>
              <a:ea typeface="Arial"/>
              <a:cs typeface="Arial"/>
              <a:sym typeface="Arial"/>
            </a:endParaRPr>
          </a:p>
          <a:p>
            <a:pPr indent="0" lvl="0" marL="0" rtl="0" algn="ctr">
              <a:lnSpc>
                <a:spcPct val="100000"/>
              </a:lnSpc>
              <a:spcBef>
                <a:spcPts val="0"/>
              </a:spcBef>
              <a:spcAft>
                <a:spcPts val="0"/>
              </a:spcAft>
              <a:buSzPct val="129999"/>
              <a:buNone/>
            </a:pPr>
            <a:r>
              <a:t/>
            </a:r>
            <a:endParaRPr/>
          </a:p>
        </p:txBody>
      </p:sp>
      <p:sp>
        <p:nvSpPr>
          <p:cNvPr id="135" name="Google Shape;135;p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Le contexte client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
          <p:cNvSpPr txBox="1"/>
          <p:nvPr>
            <p:ph type="title"/>
          </p:nvPr>
        </p:nvSpPr>
        <p:spPr>
          <a:xfrm>
            <a:off x="81400" y="475750"/>
            <a:ext cx="8520600" cy="9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fr" sz="2920"/>
              <a:t>Pourquoi digitaliser?</a:t>
            </a:r>
            <a:endParaRPr sz="2920"/>
          </a:p>
        </p:txBody>
      </p:sp>
      <p:sp>
        <p:nvSpPr>
          <p:cNvPr id="146" name="Google Shape;146;p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47" name="Google Shape;147;p3"/>
          <p:cNvSpPr/>
          <p:nvPr/>
        </p:nvSpPr>
        <p:spPr>
          <a:xfrm>
            <a:off x="145850" y="2348834"/>
            <a:ext cx="4253100" cy="2278200"/>
          </a:xfrm>
          <a:prstGeom prst="round1Rect">
            <a:avLst>
              <a:gd fmla="val 16667" name="adj"/>
            </a:avLst>
          </a:prstGeom>
          <a:solidFill>
            <a:srgbClr val="B6D7A8"/>
          </a:solidFill>
          <a:ln cap="flat" cmpd="sng" w="9525">
            <a:solidFill>
              <a:schemeClr val="lt1"/>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SzPts val="1700"/>
              <a:buFont typeface="Nunito"/>
              <a:buChar char="●"/>
            </a:pPr>
            <a:r>
              <a:rPr lang="fr" sz="1700">
                <a:latin typeface="Nunito"/>
                <a:ea typeface="Nunito"/>
                <a:cs typeface="Nunito"/>
                <a:sym typeface="Nunito"/>
              </a:rPr>
              <a:t>Loi ALUR (Accès au Logement et Urbainisme Rénové)</a:t>
            </a:r>
            <a:endParaRPr sz="1700">
              <a:latin typeface="Nunito"/>
              <a:ea typeface="Nunito"/>
              <a:cs typeface="Nunito"/>
              <a:sym typeface="Nunito"/>
            </a:endParaRPr>
          </a:p>
          <a:p>
            <a:pPr indent="0" lvl="0" marL="0" rtl="0" algn="l">
              <a:lnSpc>
                <a:spcPct val="115000"/>
              </a:lnSpc>
              <a:spcBef>
                <a:spcPts val="1200"/>
              </a:spcBef>
              <a:spcAft>
                <a:spcPts val="0"/>
              </a:spcAft>
              <a:buNone/>
            </a:pPr>
            <a:r>
              <a:t/>
            </a:r>
            <a:endParaRPr sz="1700">
              <a:latin typeface="Nunito"/>
              <a:ea typeface="Nunito"/>
              <a:cs typeface="Nunito"/>
              <a:sym typeface="Nunito"/>
            </a:endParaRPr>
          </a:p>
          <a:p>
            <a:pPr indent="-336550" lvl="0" marL="457200" rtl="0" algn="l">
              <a:lnSpc>
                <a:spcPct val="115000"/>
              </a:lnSpc>
              <a:spcBef>
                <a:spcPts val="1200"/>
              </a:spcBef>
              <a:spcAft>
                <a:spcPts val="0"/>
              </a:spcAft>
              <a:buSzPts val="1700"/>
              <a:buFont typeface="Nunito"/>
              <a:buChar char="●"/>
            </a:pPr>
            <a:r>
              <a:rPr lang="fr" sz="1700">
                <a:latin typeface="Nunito"/>
                <a:ea typeface="Nunito"/>
                <a:cs typeface="Nunito"/>
                <a:sym typeface="Nunito"/>
              </a:rPr>
              <a:t>Loi ELAN (Evolution du Logement et Aménagement du Numérique)</a:t>
            </a:r>
            <a:endParaRPr sz="1700">
              <a:latin typeface="Nunito"/>
              <a:ea typeface="Nunito"/>
              <a:cs typeface="Nunito"/>
              <a:sym typeface="Nunito"/>
            </a:endParaRPr>
          </a:p>
        </p:txBody>
      </p:sp>
      <p:sp>
        <p:nvSpPr>
          <p:cNvPr id="148" name="Google Shape;148;p3"/>
          <p:cNvSpPr/>
          <p:nvPr/>
        </p:nvSpPr>
        <p:spPr>
          <a:xfrm>
            <a:off x="145850" y="2234450"/>
            <a:ext cx="1923000" cy="2289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Digitalisation nationale</a:t>
            </a:r>
            <a:endParaRPr sz="1100">
              <a:solidFill>
                <a:schemeClr val="lt1"/>
              </a:solidFill>
              <a:latin typeface="Nunito Medium"/>
              <a:ea typeface="Nunito Medium"/>
              <a:cs typeface="Nunito Medium"/>
              <a:sym typeface="Nunito Medium"/>
            </a:endParaRPr>
          </a:p>
        </p:txBody>
      </p:sp>
      <p:sp>
        <p:nvSpPr>
          <p:cNvPr id="149" name="Google Shape;149;p3"/>
          <p:cNvSpPr/>
          <p:nvPr/>
        </p:nvSpPr>
        <p:spPr>
          <a:xfrm>
            <a:off x="4674075" y="2348834"/>
            <a:ext cx="4253100" cy="2278200"/>
          </a:xfrm>
          <a:prstGeom prst="round1Rect">
            <a:avLst>
              <a:gd fmla="val 16667" name="adj"/>
            </a:avLst>
          </a:prstGeom>
          <a:solidFill>
            <a:srgbClr val="B6D7A8"/>
          </a:solidFill>
          <a:ln cap="flat" cmpd="sng" w="9525">
            <a:solidFill>
              <a:srgbClr val="FFFFFF"/>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SzPts val="1700"/>
              <a:buFont typeface="Nunito"/>
              <a:buChar char="●"/>
            </a:pPr>
            <a:r>
              <a:rPr lang="fr" sz="1700">
                <a:latin typeface="Nunito"/>
                <a:ea typeface="Nunito"/>
                <a:cs typeface="Nunito"/>
                <a:sym typeface="Nunito"/>
              </a:rPr>
              <a:t>Arrivée des pure players</a:t>
            </a:r>
            <a:endParaRPr sz="1700">
              <a:latin typeface="Nunito"/>
              <a:ea typeface="Nunito"/>
              <a:cs typeface="Nunito"/>
              <a:sym typeface="Nunito"/>
            </a:endParaRPr>
          </a:p>
          <a:p>
            <a:pPr indent="0" lvl="0" marL="457200" rtl="0" algn="l">
              <a:lnSpc>
                <a:spcPct val="115000"/>
              </a:lnSpc>
              <a:spcBef>
                <a:spcPts val="1200"/>
              </a:spcBef>
              <a:spcAft>
                <a:spcPts val="0"/>
              </a:spcAft>
              <a:buNone/>
            </a:pPr>
            <a:r>
              <a:t/>
            </a:r>
            <a:endParaRPr sz="1700">
              <a:latin typeface="Nunito"/>
              <a:ea typeface="Nunito"/>
              <a:cs typeface="Nunito"/>
              <a:sym typeface="Nunito"/>
            </a:endParaRPr>
          </a:p>
          <a:p>
            <a:pPr indent="-336550" lvl="0" marL="457200" rtl="0" algn="l">
              <a:lnSpc>
                <a:spcPct val="115000"/>
              </a:lnSpc>
              <a:spcBef>
                <a:spcPts val="1200"/>
              </a:spcBef>
              <a:spcAft>
                <a:spcPts val="0"/>
              </a:spcAft>
              <a:buSzPts val="1700"/>
              <a:buFont typeface="Nunito"/>
              <a:buChar char="●"/>
            </a:pPr>
            <a:r>
              <a:rPr lang="fr" sz="1700">
                <a:latin typeface="Nunito"/>
                <a:ea typeface="Nunito"/>
                <a:cs typeface="Nunito"/>
                <a:sym typeface="Nunito"/>
              </a:rPr>
              <a:t>Retard conséquent sur la numérisation</a:t>
            </a:r>
            <a:endParaRPr sz="1700">
              <a:latin typeface="Nunito"/>
              <a:ea typeface="Nunito"/>
              <a:cs typeface="Nunito"/>
              <a:sym typeface="Nunito"/>
            </a:endParaRPr>
          </a:p>
        </p:txBody>
      </p:sp>
      <p:sp>
        <p:nvSpPr>
          <p:cNvPr id="150" name="Google Shape;150;p3"/>
          <p:cNvSpPr/>
          <p:nvPr/>
        </p:nvSpPr>
        <p:spPr>
          <a:xfrm>
            <a:off x="4674075" y="2234450"/>
            <a:ext cx="1923000" cy="228900"/>
          </a:xfrm>
          <a:prstGeom prst="round1Rect">
            <a:avLst>
              <a:gd fmla="val 16667" name="adj"/>
            </a:avLst>
          </a:prstGeom>
          <a:solidFill>
            <a:srgbClr val="1155CC"/>
          </a:solidFill>
          <a:ln cap="flat" cmpd="sng" w="9525">
            <a:solidFill>
              <a:srgbClr val="073763"/>
            </a:solidFill>
            <a:prstDash val="solid"/>
            <a:round/>
            <a:headEnd len="sm" w="sm" type="none"/>
            <a:tailEnd len="sm" w="sm" type="none"/>
          </a:ln>
          <a:effectLst>
            <a:reflection blurRad="0" dir="5400000" dist="38100" endA="0" endPos="3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Concurrence féroce</a:t>
            </a:r>
            <a:endParaRPr sz="1100">
              <a:solidFill>
                <a:schemeClr val="lt1"/>
              </a:solidFill>
              <a:latin typeface="Nunito Medium"/>
              <a:ea typeface="Nunito Medium"/>
              <a:cs typeface="Nunito Medium"/>
              <a:sym typeface="Nuni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35e83546a3_0_6"/>
          <p:cNvSpPr txBox="1"/>
          <p:nvPr>
            <p:ph type="title"/>
          </p:nvPr>
        </p:nvSpPr>
        <p:spPr>
          <a:xfrm>
            <a:off x="81400" y="475750"/>
            <a:ext cx="8520600" cy="9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fr" sz="2920"/>
              <a:t>Comment digitaliser?</a:t>
            </a:r>
            <a:endParaRPr sz="2920"/>
          </a:p>
        </p:txBody>
      </p:sp>
      <p:sp>
        <p:nvSpPr>
          <p:cNvPr id="156" name="Google Shape;156;g135e83546a3_0_6"/>
          <p:cNvSpPr txBox="1"/>
          <p:nvPr>
            <p:ph idx="1" type="body"/>
          </p:nvPr>
        </p:nvSpPr>
        <p:spPr>
          <a:xfrm>
            <a:off x="311700" y="7916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57" name="Google Shape;157;g135e83546a3_0_6"/>
          <p:cNvSpPr/>
          <p:nvPr/>
        </p:nvSpPr>
        <p:spPr>
          <a:xfrm>
            <a:off x="145850" y="2364174"/>
            <a:ext cx="3550800" cy="19020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336550" lvl="0" marL="457200" rtl="0" algn="l">
              <a:lnSpc>
                <a:spcPct val="100000"/>
              </a:lnSpc>
              <a:spcBef>
                <a:spcPts val="0"/>
              </a:spcBef>
              <a:spcAft>
                <a:spcPts val="0"/>
              </a:spcAft>
              <a:buSzPts val="1700"/>
              <a:buFont typeface="Nunito"/>
              <a:buChar char="●"/>
            </a:pPr>
            <a:r>
              <a:rPr lang="fr" sz="1700">
                <a:latin typeface="Nunito"/>
                <a:ea typeface="Nunito"/>
                <a:cs typeface="Nunito"/>
                <a:sym typeface="Nunito"/>
              </a:rPr>
              <a:t>Extraire, collecter et traiter les données</a:t>
            </a:r>
            <a:endParaRPr sz="1700">
              <a:latin typeface="Nunito"/>
              <a:ea typeface="Nunito"/>
              <a:cs typeface="Nunito"/>
              <a:sym typeface="Nunito"/>
            </a:endParaRPr>
          </a:p>
          <a:p>
            <a:pPr indent="-336550" lvl="0" marL="457200" rtl="0" algn="l">
              <a:lnSpc>
                <a:spcPct val="100000"/>
              </a:lnSpc>
              <a:spcBef>
                <a:spcPts val="0"/>
              </a:spcBef>
              <a:spcAft>
                <a:spcPts val="0"/>
              </a:spcAft>
              <a:buSzPts val="1700"/>
              <a:buFont typeface="Nunito"/>
              <a:buChar char="●"/>
            </a:pPr>
            <a:r>
              <a:rPr lang="fr" sz="1700">
                <a:latin typeface="Nunito"/>
                <a:ea typeface="Nunito"/>
                <a:cs typeface="Nunito"/>
                <a:sym typeface="Nunito"/>
              </a:rPr>
              <a:t>Créer une base de données </a:t>
            </a:r>
            <a:endParaRPr sz="1700">
              <a:latin typeface="Nunito"/>
              <a:ea typeface="Nunito"/>
              <a:cs typeface="Nunito"/>
              <a:sym typeface="Nunito"/>
            </a:endParaRPr>
          </a:p>
          <a:p>
            <a:pPr indent="-336550" lvl="0" marL="457200" rtl="0" algn="l">
              <a:lnSpc>
                <a:spcPct val="100000"/>
              </a:lnSpc>
              <a:spcBef>
                <a:spcPts val="0"/>
              </a:spcBef>
              <a:spcAft>
                <a:spcPts val="0"/>
              </a:spcAft>
              <a:buSzPts val="1700"/>
              <a:buFont typeface="Nunito"/>
              <a:buChar char="●"/>
            </a:pPr>
            <a:r>
              <a:rPr lang="fr" sz="1700">
                <a:latin typeface="Nunito"/>
                <a:ea typeface="Nunito"/>
                <a:cs typeface="Nunito"/>
                <a:sym typeface="Nunito"/>
              </a:rPr>
              <a:t>Créer une interface entre les employés/clients et la BDD</a:t>
            </a:r>
            <a:endParaRPr sz="1700">
              <a:latin typeface="Nunito"/>
              <a:ea typeface="Nunito"/>
              <a:cs typeface="Nunito"/>
              <a:sym typeface="Nunito"/>
            </a:endParaRPr>
          </a:p>
        </p:txBody>
      </p:sp>
      <p:sp>
        <p:nvSpPr>
          <p:cNvPr id="158" name="Google Shape;158;g135e83546a3_0_6"/>
          <p:cNvSpPr/>
          <p:nvPr/>
        </p:nvSpPr>
        <p:spPr>
          <a:xfrm>
            <a:off x="145850" y="2268677"/>
            <a:ext cx="1605600" cy="1911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Les besoins</a:t>
            </a:r>
            <a:endParaRPr sz="1100">
              <a:solidFill>
                <a:schemeClr val="lt1"/>
              </a:solidFill>
              <a:latin typeface="Nunito Medium"/>
              <a:ea typeface="Nunito Medium"/>
              <a:cs typeface="Nunito Medium"/>
              <a:sym typeface="Nunito Medium"/>
            </a:endParaRPr>
          </a:p>
        </p:txBody>
      </p:sp>
      <p:sp>
        <p:nvSpPr>
          <p:cNvPr id="159" name="Google Shape;159;g135e83546a3_0_6"/>
          <p:cNvSpPr/>
          <p:nvPr/>
        </p:nvSpPr>
        <p:spPr>
          <a:xfrm>
            <a:off x="5323587" y="2364174"/>
            <a:ext cx="3550800" cy="19020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SzPts val="1700"/>
              <a:buFont typeface="Nunito"/>
              <a:buChar char="●"/>
            </a:pPr>
            <a:r>
              <a:rPr lang="fr" sz="1700">
                <a:latin typeface="Nunito"/>
                <a:ea typeface="Nunito"/>
                <a:cs typeface="Nunito"/>
                <a:sym typeface="Nunito"/>
              </a:rPr>
              <a:t>Data Engineer</a:t>
            </a:r>
            <a:endParaRPr sz="1700">
              <a:latin typeface="Nunito"/>
              <a:ea typeface="Nunito"/>
              <a:cs typeface="Nunito"/>
              <a:sym typeface="Nunito"/>
            </a:endParaRPr>
          </a:p>
          <a:p>
            <a:pPr indent="-336550" lvl="0" marL="457200" rtl="0" algn="l">
              <a:lnSpc>
                <a:spcPct val="115000"/>
              </a:lnSpc>
              <a:spcBef>
                <a:spcPts val="0"/>
              </a:spcBef>
              <a:spcAft>
                <a:spcPts val="0"/>
              </a:spcAft>
              <a:buSzPts val="1700"/>
              <a:buFont typeface="Nunito"/>
              <a:buChar char="●"/>
            </a:pPr>
            <a:r>
              <a:rPr lang="fr" sz="1700">
                <a:latin typeface="Nunito"/>
                <a:ea typeface="Nunito"/>
                <a:cs typeface="Nunito"/>
                <a:sym typeface="Nunito"/>
              </a:rPr>
              <a:t>Data Scientist/analyst</a:t>
            </a:r>
            <a:endParaRPr sz="1700">
              <a:latin typeface="Nunito"/>
              <a:ea typeface="Nunito"/>
              <a:cs typeface="Nunito"/>
              <a:sym typeface="Nunito"/>
            </a:endParaRPr>
          </a:p>
          <a:p>
            <a:pPr indent="-336550" lvl="0" marL="457200" rtl="0" algn="l">
              <a:lnSpc>
                <a:spcPct val="115000"/>
              </a:lnSpc>
              <a:spcBef>
                <a:spcPts val="0"/>
              </a:spcBef>
              <a:spcAft>
                <a:spcPts val="0"/>
              </a:spcAft>
              <a:buSzPts val="1700"/>
              <a:buFont typeface="Nunito"/>
              <a:buChar char="●"/>
            </a:pPr>
            <a:r>
              <a:rPr lang="fr" sz="1700">
                <a:latin typeface="Nunito"/>
                <a:ea typeface="Nunito"/>
                <a:cs typeface="Nunito"/>
                <a:sym typeface="Nunito"/>
              </a:rPr>
              <a:t>Développeur d’applications/web</a:t>
            </a:r>
            <a:endParaRPr sz="1700">
              <a:latin typeface="Nunito"/>
              <a:ea typeface="Nunito"/>
              <a:cs typeface="Nunito"/>
              <a:sym typeface="Nunito"/>
            </a:endParaRPr>
          </a:p>
        </p:txBody>
      </p:sp>
      <p:sp>
        <p:nvSpPr>
          <p:cNvPr id="160" name="Google Shape;160;g135e83546a3_0_6"/>
          <p:cNvSpPr/>
          <p:nvPr/>
        </p:nvSpPr>
        <p:spPr>
          <a:xfrm>
            <a:off x="5323587" y="2268677"/>
            <a:ext cx="1605600" cy="1911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3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Postes</a:t>
            </a:r>
            <a:endParaRPr sz="1100">
              <a:solidFill>
                <a:schemeClr val="lt1"/>
              </a:solidFill>
              <a:latin typeface="Nunito Medium"/>
              <a:ea typeface="Nunito Medium"/>
              <a:cs typeface="Nunito Medium"/>
              <a:sym typeface="Nunito Medium"/>
            </a:endParaRPr>
          </a:p>
        </p:txBody>
      </p:sp>
      <p:sp>
        <p:nvSpPr>
          <p:cNvPr id="161" name="Google Shape;161;g135e83546a3_0_6"/>
          <p:cNvSpPr/>
          <p:nvPr/>
        </p:nvSpPr>
        <p:spPr>
          <a:xfrm>
            <a:off x="3901713" y="3001675"/>
            <a:ext cx="1216800" cy="537300"/>
          </a:xfrm>
          <a:prstGeom prst="rightArrow">
            <a:avLst>
              <a:gd fmla="val 50000" name="adj1"/>
              <a:gd fmla="val 50000" name="adj2"/>
            </a:avLst>
          </a:prstGeom>
          <a:gradFill>
            <a:gsLst>
              <a:gs pos="0">
                <a:srgbClr val="F2F2F2"/>
              </a:gs>
              <a:gs pos="100000">
                <a:srgbClr val="A6A6A6"/>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135e83546a3_0_6"/>
          <p:cNvSpPr txBox="1"/>
          <p:nvPr/>
        </p:nvSpPr>
        <p:spPr>
          <a:xfrm>
            <a:off x="3933675" y="3070225"/>
            <a:ext cx="9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Lato"/>
                <a:ea typeface="Lato"/>
                <a:cs typeface="Lato"/>
                <a:sym typeface="Lato"/>
              </a:rPr>
              <a:t>Solutions</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35e83546a3_0_23"/>
          <p:cNvSpPr txBox="1"/>
          <p:nvPr>
            <p:ph type="title"/>
          </p:nvPr>
        </p:nvSpPr>
        <p:spPr>
          <a:xfrm>
            <a:off x="81400" y="475750"/>
            <a:ext cx="8520600" cy="9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fr" sz="2920"/>
              <a:t>Comment digitaliser?</a:t>
            </a:r>
            <a:endParaRPr sz="2920"/>
          </a:p>
        </p:txBody>
      </p:sp>
      <p:sp>
        <p:nvSpPr>
          <p:cNvPr id="168" name="Google Shape;168;g135e83546a3_0_23"/>
          <p:cNvSpPr txBox="1"/>
          <p:nvPr>
            <p:ph idx="1" type="body"/>
          </p:nvPr>
        </p:nvSpPr>
        <p:spPr>
          <a:xfrm>
            <a:off x="311700" y="7916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69" name="Google Shape;169;g135e83546a3_0_23"/>
          <p:cNvSpPr/>
          <p:nvPr/>
        </p:nvSpPr>
        <p:spPr>
          <a:xfrm>
            <a:off x="14585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15000"/>
              </a:lnSpc>
              <a:spcBef>
                <a:spcPts val="1200"/>
              </a:spcBef>
              <a:spcAft>
                <a:spcPts val="0"/>
              </a:spcAft>
              <a:buSzPts val="1000"/>
              <a:buFont typeface="Nunito"/>
              <a:buChar char="●"/>
            </a:pPr>
            <a:r>
              <a:rPr lang="fr" sz="1000">
                <a:latin typeface="Nunito"/>
                <a:ea typeface="Nunito"/>
                <a:cs typeface="Nunito"/>
                <a:sym typeface="Nunito"/>
              </a:rPr>
              <a:t>organise, en tant que développeur·euse informatique, la collecte et la mise à disposition des données au sein de l’entreprise.</a:t>
            </a:r>
            <a:endParaRPr sz="1000">
              <a:latin typeface="Nunito"/>
              <a:ea typeface="Nunito"/>
              <a:cs typeface="Nunito"/>
              <a:sym typeface="Nunito"/>
            </a:endParaRPr>
          </a:p>
          <a:p>
            <a:pPr indent="0" lvl="0" marL="457200" rtl="0" algn="l">
              <a:lnSpc>
                <a:spcPct val="115000"/>
              </a:lnSpc>
              <a:spcBef>
                <a:spcPts val="1200"/>
              </a:spcBef>
              <a:spcAft>
                <a:spcPts val="0"/>
              </a:spcAft>
              <a:buNone/>
            </a:pPr>
            <a:r>
              <a:t/>
            </a:r>
            <a:endParaRPr sz="1000">
              <a:latin typeface="Nunito"/>
              <a:ea typeface="Nunito"/>
              <a:cs typeface="Nunito"/>
              <a:sym typeface="Nunito"/>
            </a:endParaRPr>
          </a:p>
          <a:p>
            <a:pPr indent="-292100" lvl="0" marL="457200" rtl="0" algn="l">
              <a:lnSpc>
                <a:spcPct val="115000"/>
              </a:lnSpc>
              <a:spcBef>
                <a:spcPts val="1200"/>
              </a:spcBef>
              <a:spcAft>
                <a:spcPts val="0"/>
              </a:spcAft>
              <a:buSzPts val="1000"/>
              <a:buFont typeface="Nunito"/>
              <a:buChar char="●"/>
            </a:pPr>
            <a:r>
              <a:rPr lang="fr" sz="1000">
                <a:latin typeface="Nunito"/>
                <a:ea typeface="Nunito"/>
                <a:cs typeface="Nunito"/>
                <a:sym typeface="Nunito"/>
              </a:rPr>
              <a:t>industrialise et met en production des traitements sur les données (par exemple : mise à disposition de tableaux de bord, intégration de modèles de machine learning) en lien avec les équipes métiers et les équipes de data science.</a:t>
            </a:r>
            <a:endParaRPr sz="1000">
              <a:latin typeface="Nunito"/>
              <a:ea typeface="Nunito"/>
              <a:cs typeface="Nunito"/>
              <a:sym typeface="Nunito"/>
            </a:endParaRPr>
          </a:p>
        </p:txBody>
      </p:sp>
      <p:sp>
        <p:nvSpPr>
          <p:cNvPr id="170" name="Google Shape;170;g135e83546a3_0_23"/>
          <p:cNvSpPr/>
          <p:nvPr/>
        </p:nvSpPr>
        <p:spPr>
          <a:xfrm>
            <a:off x="14585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Data Engineer</a:t>
            </a:r>
            <a:endParaRPr sz="1100">
              <a:solidFill>
                <a:schemeClr val="lt1"/>
              </a:solidFill>
              <a:latin typeface="Nunito Medium"/>
              <a:ea typeface="Nunito Medium"/>
              <a:cs typeface="Nunito Medium"/>
              <a:sym typeface="Nunito Medium"/>
            </a:endParaRPr>
          </a:p>
        </p:txBody>
      </p:sp>
      <p:sp>
        <p:nvSpPr>
          <p:cNvPr id="171" name="Google Shape;171;g135e83546a3_0_23"/>
          <p:cNvSpPr/>
          <p:nvPr/>
        </p:nvSpPr>
        <p:spPr>
          <a:xfrm>
            <a:off x="4686397" y="1955075"/>
            <a:ext cx="4314300" cy="23109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0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développe des algorithmes d’intelligence artificielle selon les besoins des équipes métiers (détection de fraude ou de pannes, recommandations, etc</a:t>
            </a:r>
            <a:endParaRPr sz="1000">
              <a:latin typeface="Nunito"/>
              <a:ea typeface="Nunito"/>
              <a:cs typeface="Nunito"/>
              <a:sym typeface="Nunito"/>
            </a:endParaRPr>
          </a:p>
          <a:p>
            <a:pPr indent="0" lvl="0" marL="457200" rtl="0" algn="l">
              <a:lnSpc>
                <a:spcPct val="150000"/>
              </a:lnSpc>
              <a:spcBef>
                <a:spcPts val="1200"/>
              </a:spcBef>
              <a:spcAft>
                <a:spcPts val="0"/>
              </a:spcAft>
              <a:buNone/>
            </a:pPr>
            <a:r>
              <a:t/>
            </a:r>
            <a:endParaRPr sz="10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aide à anticiper leur mise en production pour répondre aux besoins des équipes clients, et contribue à leur programmation et industrialisation</a:t>
            </a:r>
            <a:endParaRPr sz="1000">
              <a:latin typeface="Nunito"/>
              <a:ea typeface="Nunito"/>
              <a:cs typeface="Nunito"/>
              <a:sym typeface="Nunito"/>
            </a:endParaRPr>
          </a:p>
        </p:txBody>
      </p:sp>
      <p:sp>
        <p:nvSpPr>
          <p:cNvPr id="172" name="Google Shape;172;g135e83546a3_0_23"/>
          <p:cNvSpPr/>
          <p:nvPr/>
        </p:nvSpPr>
        <p:spPr>
          <a:xfrm>
            <a:off x="4686397" y="1839044"/>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3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Data Scientist</a:t>
            </a:r>
            <a:endParaRPr sz="1100">
              <a:solidFill>
                <a:schemeClr val="lt1"/>
              </a:solidFill>
              <a:latin typeface="Nunito Medium"/>
              <a:ea typeface="Nunito Medium"/>
              <a:cs typeface="Nunito Medium"/>
              <a:sym typeface="Nuni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35e83546a3_0_39"/>
          <p:cNvSpPr txBox="1"/>
          <p:nvPr>
            <p:ph type="title"/>
          </p:nvPr>
        </p:nvSpPr>
        <p:spPr>
          <a:xfrm>
            <a:off x="81400" y="475750"/>
            <a:ext cx="8520600" cy="9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fr" sz="2920"/>
              <a:t>Comment digitaliser?</a:t>
            </a:r>
            <a:endParaRPr sz="2920"/>
          </a:p>
        </p:txBody>
      </p:sp>
      <p:sp>
        <p:nvSpPr>
          <p:cNvPr id="178" name="Google Shape;178;g135e83546a3_0_39"/>
          <p:cNvSpPr txBox="1"/>
          <p:nvPr>
            <p:ph idx="1" type="body"/>
          </p:nvPr>
        </p:nvSpPr>
        <p:spPr>
          <a:xfrm>
            <a:off x="311700" y="7916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79" name="Google Shape;179;g135e83546a3_0_39"/>
          <p:cNvSpPr/>
          <p:nvPr/>
        </p:nvSpPr>
        <p:spPr>
          <a:xfrm>
            <a:off x="14585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15000"/>
              </a:lnSpc>
              <a:spcBef>
                <a:spcPts val="1200"/>
              </a:spcBef>
              <a:spcAft>
                <a:spcPts val="0"/>
              </a:spcAft>
              <a:buSzPts val="1000"/>
              <a:buFont typeface="Nunito"/>
              <a:buChar char="●"/>
            </a:pPr>
            <a:r>
              <a:rPr lang="fr" sz="1000">
                <a:latin typeface="Nunito"/>
                <a:ea typeface="Nunito"/>
                <a:cs typeface="Nunito"/>
                <a:sym typeface="Nunito"/>
              </a:rPr>
              <a:t>valorise l’ensemble des données d’une entreprise pour en faire un levier de création de valeur</a:t>
            </a:r>
            <a:endParaRPr sz="1000">
              <a:latin typeface="Nunito"/>
              <a:ea typeface="Nunito"/>
              <a:cs typeface="Nunito"/>
              <a:sym typeface="Nunito"/>
            </a:endParaRPr>
          </a:p>
          <a:p>
            <a:pPr indent="-292100" lvl="0" marL="457200" rtl="0" algn="l">
              <a:lnSpc>
                <a:spcPct val="115000"/>
              </a:lnSpc>
              <a:spcBef>
                <a:spcPts val="0"/>
              </a:spcBef>
              <a:spcAft>
                <a:spcPts val="0"/>
              </a:spcAft>
              <a:buSzPts val="1000"/>
              <a:buFont typeface="Nunito"/>
              <a:buChar char="●"/>
            </a:pPr>
            <a:r>
              <a:rPr lang="fr" sz="1000">
                <a:latin typeface="Nunito"/>
                <a:ea typeface="Nunito"/>
                <a:cs typeface="Nunito"/>
                <a:sym typeface="Nunito"/>
              </a:rPr>
              <a:t>réalise les nombreux tableaux de bord nécessaires aux services de l’entreprise (marketing, relations clients, production, etc)</a:t>
            </a:r>
            <a:endParaRPr sz="1000">
              <a:latin typeface="Nunito"/>
              <a:ea typeface="Nunito"/>
              <a:cs typeface="Nunito"/>
              <a:sym typeface="Nunito"/>
            </a:endParaRPr>
          </a:p>
          <a:p>
            <a:pPr indent="-292100" lvl="0" marL="457200" rtl="0" algn="l">
              <a:lnSpc>
                <a:spcPct val="115000"/>
              </a:lnSpc>
              <a:spcBef>
                <a:spcPts val="0"/>
              </a:spcBef>
              <a:spcAft>
                <a:spcPts val="0"/>
              </a:spcAft>
              <a:buSzPts val="1000"/>
              <a:buFont typeface="Nunito"/>
              <a:buChar char="●"/>
            </a:pPr>
            <a:r>
              <a:rPr lang="fr" sz="1000">
                <a:latin typeface="Nunito"/>
                <a:ea typeface="Nunito"/>
                <a:cs typeface="Nunito"/>
                <a:sym typeface="Nunito"/>
              </a:rPr>
              <a:t>en charge de construire des modèles statistiques pour éclairer les services opérationnels (segmentations clients ou analyse prédictives).</a:t>
            </a:r>
            <a:endParaRPr sz="1000">
              <a:latin typeface="Nunito"/>
              <a:ea typeface="Nunito"/>
              <a:cs typeface="Nunito"/>
              <a:sym typeface="Nunito"/>
            </a:endParaRPr>
          </a:p>
        </p:txBody>
      </p:sp>
      <p:sp>
        <p:nvSpPr>
          <p:cNvPr id="180" name="Google Shape;180;g135e83546a3_0_39"/>
          <p:cNvSpPr/>
          <p:nvPr/>
        </p:nvSpPr>
        <p:spPr>
          <a:xfrm>
            <a:off x="14585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Data Analyst</a:t>
            </a:r>
            <a:endParaRPr sz="1100">
              <a:solidFill>
                <a:schemeClr val="lt1"/>
              </a:solidFill>
              <a:latin typeface="Nunito Medium"/>
              <a:ea typeface="Nunito Medium"/>
              <a:cs typeface="Nunito Medium"/>
              <a:sym typeface="Nunito Medium"/>
            </a:endParaRPr>
          </a:p>
        </p:txBody>
      </p:sp>
      <p:sp>
        <p:nvSpPr>
          <p:cNvPr id="181" name="Google Shape;181;g135e83546a3_0_39"/>
          <p:cNvSpPr/>
          <p:nvPr/>
        </p:nvSpPr>
        <p:spPr>
          <a:xfrm>
            <a:off x="4686397" y="1955075"/>
            <a:ext cx="4314300" cy="23109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10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analyse les besoins, choisit la solution technique la mieux adaptée et développe les fonctionnalités du site web ou de l'application</a:t>
            </a:r>
            <a:endParaRPr sz="11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peut aussi apporter des solutions aux problèmes présents dans un site déjà en ligne et détectés par le client ou par les internautes. Dans ce cas, le développeur procède au diagnostic et à la mise en ligne des corrections, sans interruption du fonctionnement du site/de l’application.</a:t>
            </a:r>
            <a:endParaRPr sz="1000">
              <a:latin typeface="Nunito"/>
              <a:ea typeface="Nunito"/>
              <a:cs typeface="Nunito"/>
              <a:sym typeface="Nunito"/>
            </a:endParaRPr>
          </a:p>
        </p:txBody>
      </p:sp>
      <p:sp>
        <p:nvSpPr>
          <p:cNvPr id="182" name="Google Shape;182;g135e83546a3_0_39"/>
          <p:cNvSpPr/>
          <p:nvPr/>
        </p:nvSpPr>
        <p:spPr>
          <a:xfrm>
            <a:off x="4686397" y="1839044"/>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3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Dev Web/App</a:t>
            </a:r>
            <a:endParaRPr sz="1100">
              <a:solidFill>
                <a:schemeClr val="lt1"/>
              </a:solidFill>
              <a:latin typeface="Nunito Medium"/>
              <a:ea typeface="Nunito Medium"/>
              <a:cs typeface="Nunito Medium"/>
              <a:sym typeface="Nuni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28571"/>
              <a:buNone/>
            </a:pPr>
            <a:r>
              <a:rPr lang="fr"/>
              <a:t>Aider vos équipes : </a:t>
            </a:r>
            <a:endParaRPr/>
          </a:p>
          <a:p>
            <a:pPr indent="0" lvl="0" marL="0" rtl="0" algn="ctr">
              <a:lnSpc>
                <a:spcPct val="100000"/>
              </a:lnSpc>
              <a:spcBef>
                <a:spcPts val="0"/>
              </a:spcBef>
              <a:spcAft>
                <a:spcPts val="0"/>
              </a:spcAft>
              <a:buSzPct val="128571"/>
              <a:buNone/>
            </a:pPr>
            <a:r>
              <a:rPr lang="fr"/>
              <a:t>les outils de gestion projet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TRELLO</a:t>
            </a:r>
            <a:endParaRPr/>
          </a:p>
        </p:txBody>
      </p:sp>
      <p:sp>
        <p:nvSpPr>
          <p:cNvPr id="193" name="Google Shape;193;p5"/>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
        <p:nvSpPr>
          <p:cNvPr id="194" name="Google Shape;19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Trello est un incroyable outil de gestion de projet et de collaboration basé sur le Web qui vous aidera à planifier vos projets sur une seule plateforme. Il est incroyablement visuel et hautement adaptable, ce qui vous facilite la vie lorsque plusieurs personnes travaillent sur votre projet, en particulier lorsqu’elles sont dispersées sur différents emplacements physiques</a:t>
            </a:r>
            <a:endParaRPr/>
          </a:p>
        </p:txBody>
      </p:sp>
      <p:sp>
        <p:nvSpPr>
          <p:cNvPr id="195" name="Google Shape;195;p5"/>
          <p:cNvSpPr/>
          <p:nvPr/>
        </p:nvSpPr>
        <p:spPr>
          <a:xfrm>
            <a:off x="4938325" y="1570650"/>
            <a:ext cx="3403200" cy="2911200"/>
          </a:xfrm>
          <a:prstGeom prst="round1Rect">
            <a:avLst>
              <a:gd fmla="val 16667" name="adj"/>
            </a:avLst>
          </a:prstGeom>
          <a:solidFill>
            <a:schemeClr val="lt2"/>
          </a:solidFill>
          <a:ln cap="flat" cmpd="sng" w="9525">
            <a:solidFill>
              <a:schemeClr val="dk2"/>
            </a:solidFill>
            <a:prstDash val="solid"/>
            <a:round/>
            <a:headEnd len="sm" w="sm" type="none"/>
            <a:tailEnd len="sm" w="sm" type="none"/>
          </a:ln>
          <a:effectLst>
            <a:reflection blurRad="0" dir="5400000" dist="38100" endA="0" endPos="10000" fadeDir="5400012" kx="0" rotWithShape="0" algn="bl" stA="70000"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txBox="1"/>
          <p:nvPr/>
        </p:nvSpPr>
        <p:spPr>
          <a:xfrm>
            <a:off x="5009075" y="1712150"/>
            <a:ext cx="3204900" cy="222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fr" sz="1300">
                <a:solidFill>
                  <a:schemeClr val="dk1"/>
                </a:solidFill>
                <a:latin typeface="Lato"/>
                <a:ea typeface="Lato"/>
                <a:cs typeface="Lato"/>
                <a:sym typeface="Lato"/>
              </a:rPr>
              <a:t>Trello est un outil de gestion de projet et de collaboration basé sur le Web qui vous aidera à planifier vos projets sur une seule plateforme. Il est incroyablement visuel et hautement adaptable, ce qui vous facilite la vie lorsque plusieurs personnes travaillent sur votre projet, en particulier lorsqu’elles sont dispersées sur différents emplacements physiques</a:t>
            </a:r>
            <a:endParaRPr>
              <a:solidFill>
                <a:schemeClr val="dk1"/>
              </a:solidFill>
              <a:latin typeface="Lato"/>
              <a:ea typeface="Lato"/>
              <a:cs typeface="Lato"/>
              <a:sym typeface="Lato"/>
            </a:endParaRPr>
          </a:p>
        </p:txBody>
      </p:sp>
      <p:pic>
        <p:nvPicPr>
          <p:cNvPr id="197" name="Google Shape;197;p5"/>
          <p:cNvPicPr preferRelativeResize="0"/>
          <p:nvPr/>
        </p:nvPicPr>
        <p:blipFill>
          <a:blip r:embed="rId3">
            <a:alphaModFix/>
          </a:blip>
          <a:stretch>
            <a:fillRect/>
          </a:stretch>
        </p:blipFill>
        <p:spPr>
          <a:xfrm>
            <a:off x="2046600" y="2070650"/>
            <a:ext cx="1905000" cy="190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Avantages &amp; Inconvénients de Trello</a:t>
            </a:r>
            <a:endParaRPr/>
          </a:p>
        </p:txBody>
      </p:sp>
      <p:sp>
        <p:nvSpPr>
          <p:cNvPr id="203" name="Google Shape;203;p6"/>
          <p:cNvSpPr/>
          <p:nvPr/>
        </p:nvSpPr>
        <p:spPr>
          <a:xfrm>
            <a:off x="14585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Une traçabilité des actions menées</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Partage d’information et de ressources faciles avec des organisations externes</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Interface ergonomique et simple d’accès</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Version gratuite relativement complète</a:t>
            </a:r>
            <a:endParaRPr sz="1000">
              <a:latin typeface="Nunito"/>
              <a:ea typeface="Nunito"/>
              <a:cs typeface="Nunito"/>
              <a:sym typeface="Nunito"/>
            </a:endParaRPr>
          </a:p>
          <a:p>
            <a:pPr indent="0" lvl="0" marL="457200" rtl="0" algn="l">
              <a:lnSpc>
                <a:spcPct val="115000"/>
              </a:lnSpc>
              <a:spcBef>
                <a:spcPts val="1200"/>
              </a:spcBef>
              <a:spcAft>
                <a:spcPts val="0"/>
              </a:spcAft>
              <a:buNone/>
            </a:pPr>
            <a:r>
              <a:t/>
            </a:r>
            <a:endParaRPr sz="1200">
              <a:highlight>
                <a:srgbClr val="F6F6F6"/>
              </a:highlight>
              <a:latin typeface="Lato"/>
              <a:ea typeface="Lato"/>
              <a:cs typeface="Lato"/>
              <a:sym typeface="Lato"/>
            </a:endParaRPr>
          </a:p>
          <a:p>
            <a:pPr indent="0" lvl="0" marL="457200" rtl="0" algn="l">
              <a:lnSpc>
                <a:spcPct val="115000"/>
              </a:lnSpc>
              <a:spcBef>
                <a:spcPts val="1900"/>
              </a:spcBef>
              <a:spcAft>
                <a:spcPts val="1200"/>
              </a:spcAft>
              <a:buNone/>
            </a:pPr>
            <a:r>
              <a:t/>
            </a:r>
            <a:endParaRPr sz="1000">
              <a:latin typeface="Nunito"/>
              <a:ea typeface="Nunito"/>
              <a:cs typeface="Nunito"/>
              <a:sym typeface="Nunito"/>
            </a:endParaRPr>
          </a:p>
        </p:txBody>
      </p:sp>
      <p:sp>
        <p:nvSpPr>
          <p:cNvPr id="204" name="Google Shape;204;p6"/>
          <p:cNvSpPr/>
          <p:nvPr/>
        </p:nvSpPr>
        <p:spPr>
          <a:xfrm>
            <a:off x="14585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Avantages</a:t>
            </a:r>
            <a:endParaRPr sz="1100">
              <a:solidFill>
                <a:schemeClr val="lt1"/>
              </a:solidFill>
              <a:latin typeface="Nunito Medium"/>
              <a:ea typeface="Nunito Medium"/>
              <a:cs typeface="Nunito Medium"/>
              <a:sym typeface="Nunito Medium"/>
            </a:endParaRPr>
          </a:p>
        </p:txBody>
      </p:sp>
      <p:sp>
        <p:nvSpPr>
          <p:cNvPr id="205" name="Google Shape;205;p6"/>
          <p:cNvSpPr/>
          <p:nvPr/>
        </p:nvSpPr>
        <p:spPr>
          <a:xfrm>
            <a:off x="482970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La vue en Kanblan n’est pas adaptée à tous les projets</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N’est pas adapté aux projets trop volumineux</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Impossible de gérer les ressources, le temps ou les équipes directement sur le logiciel</a:t>
            </a:r>
            <a:endParaRPr sz="1000">
              <a:latin typeface="Nunito"/>
              <a:ea typeface="Nunito"/>
              <a:cs typeface="Nunito"/>
              <a:sym typeface="Nunito"/>
            </a:endParaRPr>
          </a:p>
        </p:txBody>
      </p:sp>
      <p:sp>
        <p:nvSpPr>
          <p:cNvPr id="206" name="Google Shape;206;p6"/>
          <p:cNvSpPr/>
          <p:nvPr/>
        </p:nvSpPr>
        <p:spPr>
          <a:xfrm>
            <a:off x="482970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Inconvénients</a:t>
            </a:r>
            <a:endParaRPr sz="1100">
              <a:solidFill>
                <a:schemeClr val="lt1"/>
              </a:solidFill>
              <a:latin typeface="Nunito Medium"/>
              <a:ea typeface="Nunito Medium"/>
              <a:cs typeface="Nunito Medium"/>
              <a:sym typeface="Nunit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ClickUp</a:t>
            </a:r>
            <a:endParaRPr/>
          </a:p>
        </p:txBody>
      </p:sp>
      <p:sp>
        <p:nvSpPr>
          <p:cNvPr id="212" name="Google Shape;212;p7"/>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
        <p:nvSpPr>
          <p:cNvPr id="213" name="Google Shape;213;p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4" name="Google Shape;214;p7"/>
          <p:cNvPicPr preferRelativeResize="0"/>
          <p:nvPr/>
        </p:nvPicPr>
        <p:blipFill>
          <a:blip r:embed="rId3">
            <a:alphaModFix/>
          </a:blip>
          <a:stretch>
            <a:fillRect/>
          </a:stretch>
        </p:blipFill>
        <p:spPr>
          <a:xfrm>
            <a:off x="1890325" y="1914375"/>
            <a:ext cx="2217550" cy="2217550"/>
          </a:xfrm>
          <a:prstGeom prst="rect">
            <a:avLst/>
          </a:prstGeom>
          <a:noFill/>
          <a:ln>
            <a:noFill/>
          </a:ln>
        </p:spPr>
      </p:pic>
      <p:sp>
        <p:nvSpPr>
          <p:cNvPr id="215" name="Google Shape;215;p7"/>
          <p:cNvSpPr/>
          <p:nvPr/>
        </p:nvSpPr>
        <p:spPr>
          <a:xfrm>
            <a:off x="4938325" y="1570650"/>
            <a:ext cx="3403200" cy="2911200"/>
          </a:xfrm>
          <a:prstGeom prst="round1Rect">
            <a:avLst>
              <a:gd fmla="val 16667" name="adj"/>
            </a:avLst>
          </a:prstGeom>
          <a:solidFill>
            <a:schemeClr val="lt2"/>
          </a:solidFill>
          <a:ln cap="flat" cmpd="sng" w="9525">
            <a:solidFill>
              <a:schemeClr val="dk2"/>
            </a:solidFill>
            <a:prstDash val="solid"/>
            <a:round/>
            <a:headEnd len="sm" w="sm" type="none"/>
            <a:tailEnd len="sm" w="sm" type="none"/>
          </a:ln>
          <a:effectLst>
            <a:reflection blurRad="0" dir="5400000" dist="38100" endA="0" endPos="10000" fadeDir="5400012" kx="0" rotWithShape="0" algn="bl" stA="70000"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txBox="1"/>
          <p:nvPr/>
        </p:nvSpPr>
        <p:spPr>
          <a:xfrm>
            <a:off x="5043025" y="1894950"/>
            <a:ext cx="31836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500">
                <a:solidFill>
                  <a:srgbClr val="444444"/>
                </a:solidFill>
                <a:latin typeface="Montserrat"/>
                <a:ea typeface="Montserrat"/>
                <a:cs typeface="Montserrat"/>
                <a:sym typeface="Montserrat"/>
              </a:rPr>
              <a:t>ClickUp propose des intégrations avec plus de 1000 applications. Il est conçu pour gérer toutes les tâches simples et complexes et permet à toutes les équipes d’utiliser son application unique pour planifier, organiser et collaborer.</a:t>
            </a:r>
            <a:endParaRPr sz="170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1364452124b_0_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ClickUp</a:t>
            </a:r>
            <a:endParaRPr/>
          </a:p>
        </p:txBody>
      </p:sp>
      <p:sp>
        <p:nvSpPr>
          <p:cNvPr id="222" name="Google Shape;222;g1364452124b_0_23"/>
          <p:cNvSpPr/>
          <p:nvPr/>
        </p:nvSpPr>
        <p:spPr>
          <a:xfrm>
            <a:off x="14585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Des outils puissants </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Suivi et estimation du temps</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Logiciel ergonomique</a:t>
            </a:r>
            <a:endParaRPr sz="1000">
              <a:latin typeface="Nunito"/>
              <a:ea typeface="Nunito"/>
              <a:cs typeface="Nunito"/>
              <a:sym typeface="Nunito"/>
            </a:endParaRPr>
          </a:p>
          <a:p>
            <a:pPr indent="-292100" lvl="0" marL="457200" rtl="0" algn="l">
              <a:lnSpc>
                <a:spcPct val="150000"/>
              </a:lnSpc>
              <a:spcBef>
                <a:spcPts val="0"/>
              </a:spcBef>
              <a:spcAft>
                <a:spcPts val="0"/>
              </a:spcAft>
              <a:buSzPts val="1000"/>
              <a:buFont typeface="Nunito"/>
              <a:buChar char="★"/>
            </a:pPr>
            <a:r>
              <a:rPr lang="fr" sz="1000">
                <a:latin typeface="Nunito"/>
                <a:ea typeface="Nunito"/>
                <a:cs typeface="Nunito"/>
                <a:sym typeface="Nunito"/>
              </a:rPr>
              <a:t>Barre d’outil multitâches</a:t>
            </a:r>
            <a:endParaRPr sz="1000">
              <a:latin typeface="Nunito"/>
              <a:ea typeface="Nunito"/>
              <a:cs typeface="Nunito"/>
              <a:sym typeface="Nunito"/>
            </a:endParaRPr>
          </a:p>
          <a:p>
            <a:pPr indent="0" lvl="0" marL="457200" rtl="0" algn="l">
              <a:lnSpc>
                <a:spcPct val="115000"/>
              </a:lnSpc>
              <a:spcBef>
                <a:spcPts val="1200"/>
              </a:spcBef>
              <a:spcAft>
                <a:spcPts val="0"/>
              </a:spcAft>
              <a:buNone/>
            </a:pPr>
            <a:r>
              <a:t/>
            </a:r>
            <a:endParaRPr sz="1200">
              <a:highlight>
                <a:srgbClr val="F6F6F6"/>
              </a:highlight>
              <a:latin typeface="Lato"/>
              <a:ea typeface="Lato"/>
              <a:cs typeface="Lato"/>
              <a:sym typeface="Lato"/>
            </a:endParaRPr>
          </a:p>
          <a:p>
            <a:pPr indent="0" lvl="0" marL="457200" rtl="0" algn="l">
              <a:lnSpc>
                <a:spcPct val="115000"/>
              </a:lnSpc>
              <a:spcBef>
                <a:spcPts val="1900"/>
              </a:spcBef>
              <a:spcAft>
                <a:spcPts val="1200"/>
              </a:spcAft>
              <a:buNone/>
            </a:pPr>
            <a:r>
              <a:t/>
            </a:r>
            <a:endParaRPr sz="1000">
              <a:latin typeface="Nunito"/>
              <a:ea typeface="Nunito"/>
              <a:cs typeface="Nunito"/>
              <a:sym typeface="Nunito"/>
            </a:endParaRPr>
          </a:p>
        </p:txBody>
      </p:sp>
      <p:sp>
        <p:nvSpPr>
          <p:cNvPr id="223" name="Google Shape;223;g1364452124b_0_23"/>
          <p:cNvSpPr/>
          <p:nvPr/>
        </p:nvSpPr>
        <p:spPr>
          <a:xfrm>
            <a:off x="14585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Avantages</a:t>
            </a:r>
            <a:endParaRPr sz="1100">
              <a:solidFill>
                <a:schemeClr val="lt1"/>
              </a:solidFill>
              <a:latin typeface="Nunito Medium"/>
              <a:ea typeface="Nunito Medium"/>
              <a:cs typeface="Nunito Medium"/>
              <a:sym typeface="Nunito Medium"/>
            </a:endParaRPr>
          </a:p>
        </p:txBody>
      </p:sp>
      <p:sp>
        <p:nvSpPr>
          <p:cNvPr id="224" name="Google Shape;224;g1364452124b_0_23"/>
          <p:cNvSpPr/>
          <p:nvPr/>
        </p:nvSpPr>
        <p:spPr>
          <a:xfrm>
            <a:off x="4829700" y="1955087"/>
            <a:ext cx="4314300" cy="2311200"/>
          </a:xfrm>
          <a:prstGeom prst="round1Rect">
            <a:avLst>
              <a:gd fmla="val 16667" name="adj"/>
            </a:avLst>
          </a:prstGeom>
          <a:solidFill>
            <a:srgbClr val="B6D7A8"/>
          </a:solidFill>
          <a:ln cap="flat" cmpd="sng" w="9525">
            <a:solidFill>
              <a:srgbClr val="000000"/>
            </a:solidFill>
            <a:prstDash val="solid"/>
            <a:round/>
            <a:headEnd len="sm" w="sm" type="none"/>
            <a:tailEnd len="sm" w="sm" type="none"/>
          </a:ln>
          <a:effectLst>
            <a:reflection blurRad="0" dir="5400000" dist="38100" endA="0" endPos="10000" fadeDir="5400012" kx="0" rotWithShape="0" algn="bl" stA="40000" stPos="0" sy="-100000" ky="0"/>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2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Logiciel (très) lourd</a:t>
            </a:r>
            <a:endParaRPr sz="1000">
              <a:latin typeface="Nunito"/>
              <a:ea typeface="Nunito"/>
              <a:cs typeface="Nunito"/>
              <a:sym typeface="Nunito"/>
            </a:endParaRPr>
          </a:p>
          <a:p>
            <a:pPr indent="0" lvl="0" marL="457200" rtl="0" algn="l">
              <a:lnSpc>
                <a:spcPct val="150000"/>
              </a:lnSpc>
              <a:spcBef>
                <a:spcPts val="1200"/>
              </a:spcBef>
              <a:spcAft>
                <a:spcPts val="0"/>
              </a:spcAft>
              <a:buNone/>
            </a:pPr>
            <a:r>
              <a:t/>
            </a:r>
            <a:endParaRPr sz="1000">
              <a:latin typeface="Nunito"/>
              <a:ea typeface="Nunito"/>
              <a:cs typeface="Nunito"/>
              <a:sym typeface="Nunito"/>
            </a:endParaRPr>
          </a:p>
          <a:p>
            <a:pPr indent="-292100" lvl="0" marL="457200" rtl="0" algn="l">
              <a:lnSpc>
                <a:spcPct val="150000"/>
              </a:lnSpc>
              <a:spcBef>
                <a:spcPts val="1200"/>
              </a:spcBef>
              <a:spcAft>
                <a:spcPts val="0"/>
              </a:spcAft>
              <a:buSzPts val="1000"/>
              <a:buFont typeface="Nunito"/>
              <a:buChar char="➢"/>
            </a:pPr>
            <a:r>
              <a:rPr lang="fr" sz="1000">
                <a:latin typeface="Nunito"/>
                <a:ea typeface="Nunito"/>
                <a:cs typeface="Nunito"/>
                <a:sym typeface="Nunito"/>
              </a:rPr>
              <a:t>Aucune option de tri</a:t>
            </a:r>
            <a:endParaRPr sz="1000">
              <a:latin typeface="Nunito"/>
              <a:ea typeface="Nunito"/>
              <a:cs typeface="Nunito"/>
              <a:sym typeface="Nunito"/>
            </a:endParaRPr>
          </a:p>
          <a:p>
            <a:pPr indent="0" lvl="0" marL="457200" rtl="0" algn="l">
              <a:lnSpc>
                <a:spcPct val="150000"/>
              </a:lnSpc>
              <a:spcBef>
                <a:spcPts val="1200"/>
              </a:spcBef>
              <a:spcAft>
                <a:spcPts val="1200"/>
              </a:spcAft>
              <a:buNone/>
            </a:pPr>
            <a:r>
              <a:t/>
            </a:r>
            <a:endParaRPr sz="1000">
              <a:latin typeface="Nunito"/>
              <a:ea typeface="Nunito"/>
              <a:cs typeface="Nunito"/>
              <a:sym typeface="Nunito"/>
            </a:endParaRPr>
          </a:p>
        </p:txBody>
      </p:sp>
      <p:sp>
        <p:nvSpPr>
          <p:cNvPr id="225" name="Google Shape;225;g1364452124b_0_23"/>
          <p:cNvSpPr/>
          <p:nvPr/>
        </p:nvSpPr>
        <p:spPr>
          <a:xfrm>
            <a:off x="4829700" y="1839050"/>
            <a:ext cx="1950900" cy="232200"/>
          </a:xfrm>
          <a:prstGeom prst="round1Rect">
            <a:avLst>
              <a:gd fmla="val 16667" name="adj"/>
            </a:avLst>
          </a:prstGeom>
          <a:solidFill>
            <a:srgbClr val="1155CC"/>
          </a:solidFill>
          <a:ln cap="flat" cmpd="sng" w="9525">
            <a:solidFill>
              <a:srgbClr val="000000"/>
            </a:solidFill>
            <a:prstDash val="solid"/>
            <a:round/>
            <a:headEnd len="sm" w="sm" type="none"/>
            <a:tailEnd len="sm" w="sm" type="none"/>
          </a:ln>
          <a:effectLst>
            <a:reflection blurRad="0" dir="5400000" dist="38100" endA="0" endPos="20000" fadeDir="5400012" kx="0" rotWithShape="0" algn="bl" stA="3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chemeClr val="lt1"/>
                </a:solidFill>
                <a:latin typeface="Nunito Medium"/>
                <a:ea typeface="Nunito Medium"/>
                <a:cs typeface="Nunito Medium"/>
                <a:sym typeface="Nunito Medium"/>
              </a:rPr>
              <a:t>Inconvénients</a:t>
            </a:r>
            <a:endParaRPr sz="1100">
              <a:solidFill>
                <a:schemeClr val="lt1"/>
              </a:solidFill>
              <a:latin typeface="Nunito Medium"/>
              <a:ea typeface="Nunito Medium"/>
              <a:cs typeface="Nunito Medium"/>
              <a:sym typeface="Nunito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Github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Création d’une compte Github</a:t>
            </a:r>
            <a:endParaRPr/>
          </a:p>
        </p:txBody>
      </p:sp>
      <p:sp>
        <p:nvSpPr>
          <p:cNvPr id="236" name="Google Shape;236;p9"/>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Démonstration de Github</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1"/>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Les base de Python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[Première notion Python à expliquer]</a:t>
            </a:r>
            <a:endParaRPr/>
          </a:p>
        </p:txBody>
      </p:sp>
      <p:sp>
        <p:nvSpPr>
          <p:cNvPr id="252" name="Google Shape;252;p1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[Deuxième notion Python à expliquer]</a:t>
            </a:r>
            <a:endParaRPr/>
          </a:p>
        </p:txBody>
      </p:sp>
      <p:sp>
        <p:nvSpPr>
          <p:cNvPr id="258" name="Google Shape;258;p1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[X notion Python à expliquer]</a:t>
            </a:r>
            <a:endParaRPr/>
          </a:p>
        </p:txBody>
      </p:sp>
      <p:sp>
        <p:nvSpPr>
          <p:cNvPr id="264" name="Google Shape;264;p1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5"/>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Les bases de donnés SQL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Le jeu de données utilisée </a:t>
            </a:r>
            <a:endParaRPr/>
          </a:p>
        </p:txBody>
      </p:sp>
      <p:sp>
        <p:nvSpPr>
          <p:cNvPr id="275" name="Google Shape;275;p1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Création d’une base de données</a:t>
            </a:r>
            <a:endParaRPr/>
          </a:p>
        </p:txBody>
      </p:sp>
      <p:sp>
        <p:nvSpPr>
          <p:cNvPr id="281" name="Google Shape;281;p17"/>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Démonstration des requêtes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fr"/>
              <a:t>Conclusion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Les grandes lignes </a:t>
            </a:r>
            <a:endParaRPr/>
          </a:p>
        </p:txBody>
      </p:sp>
      <p:sp>
        <p:nvSpPr>
          <p:cNvPr id="297" name="Google Shape;297;p20"/>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fr"/>
              <a:t>Propositions d’accompagnement</a:t>
            </a:r>
            <a:endParaRPr/>
          </a:p>
        </p:txBody>
      </p:sp>
      <p:sp>
        <p:nvSpPr>
          <p:cNvPr id="303" name="Google Shape;303;p2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